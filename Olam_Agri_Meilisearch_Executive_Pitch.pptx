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Powering Search at Olam Agri with Meilisearch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DCEBE0"/>
                </a:solidFill>
                <a:latin typeface="Segoe UI"/>
              </a:rPr>
              <a:t>Architecture, Performance, and Strategic Considerations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3474720"/>
          </a:xfrm>
          <a:prstGeom prst="roundRect">
            <a:avLst/>
          </a:prstGeom>
          <a:solidFill>
            <a:srgbClr val="F5F9F6"/>
          </a:solidFill>
          <a:ln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14532D"/>
                </a:solidFill>
                <a:latin typeface="Segoe UI"/>
              </a:rPr>
              <a:t>Executive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C6E55"/>
                </a:solidFill>
                <a:latin typeface="Segoe UI"/>
              </a:rPr>
              <a:t>Presenter: Ponmozhi 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DCEBE0"/>
                </a:solidFill>
                <a:latin typeface="Segoe UI"/>
              </a:rPr>
              <a:t>What is Meilisearch?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4864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1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Segoe UI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17319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Segoe UI"/>
              </a:rPr>
              <a:t>Core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50749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212D38"/>
                </a:solidFill>
                <a:latin typeface="Segoe UI"/>
              </a:rPr>
              <a:t>An open source, lightning fast search engine written in the Rust programming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28016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44751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Segoe UI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417319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Segoe UI"/>
              </a:rPr>
              <a:t>Primary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10512"/>
            <a:ext cx="4709159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212D38"/>
                </a:solidFill>
                <a:latin typeface="Segoe UI"/>
              </a:rPr>
              <a:t>Delivering highly relevant search results to users in under 50 milliseconds.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54864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Segoe UI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49040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Segoe UI"/>
              </a:rPr>
              <a:t>Modern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42232"/>
            <a:ext cx="507492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212D38"/>
                </a:solidFill>
                <a:latin typeface="Segoe UI"/>
              </a:rPr>
              <a:t>Includes built in typo tolerance and native hybrid search (combining exact keyword matches with AI semantic search) right out of the box.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61188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77647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Segoe UI"/>
              </a:rPr>
              <a:t>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4904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Segoe UI"/>
              </a:rPr>
              <a:t>Technology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42232"/>
            <a:ext cx="4709159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212D38"/>
                </a:solidFill>
                <a:latin typeface="Segoe UI"/>
              </a:rPr>
              <a:t>Uses a Lightning Memory Mapped Database (LMDB), meaning it reads directly from RAM for instant data retrieval.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The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DCEBE0"/>
                </a:solidFill>
                <a:latin typeface="Segoe UI"/>
              </a:rPr>
              <a:t>Why Choose Meilisearch?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Segoe UI"/>
              </a:rPr>
              <a:t>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08760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Segoe UI"/>
              </a:rPr>
              <a:t>Developer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5074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212D38"/>
                </a:solidFill>
                <a:latin typeface="Segoe UI"/>
              </a:rPr>
              <a:t>Extremely simple to set up compared to heavy enterprise alternatives. You can go from zero to a working search prototype in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7160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3619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Segoe UI"/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Segoe UI"/>
              </a:rPr>
              <a:t>Blazing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01952"/>
            <a:ext cx="4709159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212D38"/>
                </a:solidFill>
                <a:latin typeface="Segoe UI"/>
              </a:rPr>
              <a:t>The memory mapped architecture guarantees virtually zero latency for the end user.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54864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Segoe UI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49040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Segoe UI"/>
              </a:rPr>
              <a:t>AI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42232"/>
            <a:ext cx="50749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212D38"/>
                </a:solidFill>
                <a:latin typeface="Segoe UI"/>
              </a:rPr>
              <a:t>Native support for vector embeddings allows users to search by concept or meaning, not just exact wording.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61188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77647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Segoe UI"/>
              </a:rPr>
              <a:t>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4904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Segoe UI"/>
              </a:rPr>
              <a:t>Cost Effective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42232"/>
            <a:ext cx="4709159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212D38"/>
                </a:solidFill>
                <a:latin typeface="Segoe UI"/>
              </a:rPr>
              <a:t>The open source community edition provides massive value without expensive vendor lock 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Tradeoffs and Blockers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DCEBE0"/>
                </a:solidFill>
                <a:latin typeface="Segoe UI"/>
              </a:rPr>
              <a:t>What is the Catch?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4864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Segoe UI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63039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Segoe UI"/>
              </a:rPr>
              <a:t>RAM Hungry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56231"/>
            <a:ext cx="5074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212D38"/>
                </a:solidFill>
                <a:latin typeface="Segoe UI"/>
              </a:rPr>
              <a:t>Because it maps the index to memory, your server RAM must scale linearly with your dataset size. Large datasets equal expensive server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9047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Segoe UI"/>
              </a:rPr>
              <a:t>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463039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Segoe UI"/>
              </a:rPr>
              <a:t>Heavy Indexing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56231"/>
            <a:ext cx="470915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212D38"/>
                </a:solidFill>
                <a:latin typeface="Segoe UI"/>
              </a:rPr>
              <a:t>Adding massive batches of documents consumes intense CPU and memory. If not queued properly, indexing can temporarily slow down search performance.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4864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1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Segoe UI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840480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Segoe UI"/>
              </a:rPr>
              <a:t>Analytics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33672"/>
            <a:ext cx="5074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212D38"/>
                </a:solidFill>
                <a:latin typeface="Segoe UI"/>
              </a:rPr>
              <a:t>It is built strictly for user facing search. It is not designed for complex data aggregations, log analysis, or massive data crunching (unlike Elasticsearch).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70332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867911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Segoe UI"/>
              </a:rPr>
              <a:t>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8404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Segoe UI"/>
              </a:rPr>
              <a:t>Scaling 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233672"/>
            <a:ext cx="470915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212D38"/>
                </a:solidFill>
                <a:latin typeface="Segoe UI"/>
              </a:rPr>
              <a:t>The free open source version operates on a single node. To get horizontal scaling (sharding across multiple servers for massive datasets), you must upgrade to their paid Enterprise Edition.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Olam Agri Integration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DCEBE0"/>
                </a:solidFill>
                <a:latin typeface="Segoe UI"/>
              </a:rPr>
              <a:t>How It Fits Our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972800" cy="914400"/>
          </a:xfrm>
          <a:prstGeom prst="roundRect">
            <a:avLst/>
          </a:prstGeom>
          <a:solidFill>
            <a:srgbClr val="F5F9F6"/>
          </a:solidFill>
          <a:ln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32D"/>
                </a:solidFill>
                <a:latin typeface="Segoe UI"/>
              </a:rPr>
              <a:t>Not a Primary Database: Meilisearch does not replace our master databases. It acts as a fast secondary search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697480"/>
            <a:ext cx="502920" cy="502920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81635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2491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532D"/>
                </a:solidFill>
                <a:latin typeface="Segoe UI"/>
              </a:rP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24231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12D38"/>
                </a:solidFill>
                <a:latin typeface="Segoe UI"/>
              </a:rPr>
              <a:t>Data Flow Step 1: Extract structured data (like supplier contracts, grain prices, or logistics schedules) from our core ERP systems.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20440" y="3977639"/>
            <a:ext cx="347472" cy="457200"/>
          </a:xfrm>
          <a:prstGeom prst="rightArrow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256032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9039" y="2697480"/>
            <a:ext cx="502920" cy="502920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281635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72491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532D"/>
                </a:solidFill>
                <a:latin typeface="Segoe UI"/>
              </a:rPr>
              <a:t>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246120"/>
            <a:ext cx="24231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12D38"/>
                </a:solidFill>
                <a:latin typeface="Segoe UI"/>
              </a:rPr>
              <a:t>Data Flow Step 2: Flatten and format this data into simple JSON documents.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00800" y="3977639"/>
            <a:ext cx="347472" cy="457200"/>
          </a:xfrm>
          <a:prstGeom prst="rightArrow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256032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2697480"/>
            <a:ext cx="502920" cy="502920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81635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72491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532D"/>
                </a:solidFill>
                <a:latin typeface="Segoe UI"/>
              </a:rPr>
              <a:t>Sync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246120"/>
            <a:ext cx="24231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12D38"/>
                </a:solidFill>
                <a:latin typeface="Segoe UI"/>
              </a:rPr>
              <a:t>Data Flow Step 3: Push updates to the Meilisearch REST API via an automated synchronization script or middleware service.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81160" y="3977639"/>
            <a:ext cx="347472" cy="457200"/>
          </a:xfrm>
          <a:prstGeom prst="rightArrow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256032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09760" y="2697480"/>
            <a:ext cx="502920" cy="502920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74352" y="281635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72491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532D"/>
                </a:solidFill>
                <a:latin typeface="Segoe UI"/>
              </a:rPr>
              <a:t>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246120"/>
            <a:ext cx="24231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12D38"/>
                </a:solidFill>
                <a:latin typeface="Segoe UI"/>
              </a:rPr>
              <a:t>Data Flow Step 4: The front end application queries Meilisearch directly for instant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System Requirements &amp; Hosting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DCEBE0"/>
                </a:solidFill>
                <a:latin typeface="Segoe UI"/>
              </a:rPr>
              <a:t>Deployment Options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1234440"/>
          </a:xfrm>
          <a:prstGeom prst="roundRect">
            <a:avLst/>
          </a:prstGeom>
          <a:solidFill>
            <a:srgbClr val="F5F9F6"/>
          </a:solidFill>
          <a:ln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32D"/>
                </a:solidFill>
                <a:latin typeface="Segoe UI"/>
              </a:rPr>
              <a:t>Hardware Baseline: Requires Solid State Drives (NVMe preferred) and RAM roughly equal to the total size of our search dataset.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56616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992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Segoe UI"/>
              </a:rPr>
              <a:t>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971800"/>
            <a:ext cx="2606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Segoe UI"/>
              </a:rPr>
              <a:t>Self Hosting (Docker)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64992"/>
            <a:ext cx="3154679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212D38"/>
                </a:solidFill>
                <a:latin typeface="Segoe UI"/>
              </a:rPr>
              <a:t>We can deploy the official container image within our existing Kubernetes infrastructure for total data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834640"/>
            <a:ext cx="356616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9992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Segoe UI"/>
              </a:rPr>
              <a:t>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971800"/>
            <a:ext cx="2606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Segoe UI"/>
              </a:rPr>
              <a:t>Self Hosting (Direct)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364992"/>
            <a:ext cx="3154679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212D38"/>
                </a:solidFill>
                <a:latin typeface="Segoe UI"/>
              </a:rPr>
              <a:t>Run the compiled binary directly on a Linux virtual machine (AWS, Google Cloud, Azure).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834640"/>
            <a:ext cx="338328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29992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Segoe UI"/>
              </a:rPr>
              <a:t>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97180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Segoe UI"/>
              </a:rPr>
              <a:t>Managed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364992"/>
            <a:ext cx="297180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212D38"/>
                </a:solidFill>
                <a:latin typeface="Segoe UI"/>
              </a:rPr>
              <a:t>Alternatively, we can use Meilisearch Cloud to offload server maintenance, security patching, and uptime monitoring to their team.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DCEBE0"/>
                </a:solidFill>
                <a:latin typeface="Segoe UI"/>
              </a:rPr>
              <a:t>Step by Step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7160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1005840" y="1527048"/>
            <a:ext cx="731520" cy="548640"/>
          </a:xfrm>
          <a:prstGeom prst="chevron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63677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54480"/>
            <a:ext cx="94183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12D38"/>
                </a:solidFill>
                <a:latin typeface="Segoe UI"/>
              </a:rPr>
              <a:t>1. Provisioning: Launch a staging server and secure it behind a reverse proxy (like Nginx) with SSL.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2316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1005840" y="2578608"/>
            <a:ext cx="731520" cy="548640"/>
          </a:xfrm>
          <a:prstGeom prst="chevron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68833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06040"/>
            <a:ext cx="94183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12D38"/>
                </a:solidFill>
                <a:latin typeface="Segoe UI"/>
              </a:rPr>
              <a:t>2. Security: Generate specific API keys restricting who can read data and who can write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47472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1005840" y="3630168"/>
            <a:ext cx="731520" cy="548640"/>
          </a:xfrm>
          <a:prstGeom prst="chevron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73989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57600"/>
            <a:ext cx="94183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12D38"/>
                </a:solidFill>
                <a:latin typeface="Segoe UI"/>
              </a:rPr>
              <a:t>3. Configuration: Define strictly which data fields are searchable and which are filterable to preserve RAM.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526279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1005840" y="4681727"/>
            <a:ext cx="731520" cy="548640"/>
          </a:xfrm>
          <a:prstGeom prst="chevron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791455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709159"/>
            <a:ext cx="94183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12D38"/>
                </a:solidFill>
                <a:latin typeface="Segoe UI"/>
              </a:rPr>
              <a:t>4. Ingestion: Build the synchronization middleware using Python or Node to push batch updates from our primary database.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5778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1005840" y="5733288"/>
            <a:ext cx="731520" cy="548640"/>
          </a:xfrm>
          <a:prstGeom prst="chevron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584301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5760720"/>
            <a:ext cx="94183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12D38"/>
                </a:solidFill>
                <a:latin typeface="Segoe UI"/>
              </a:rPr>
              <a:t>5. UI Integration: Connect our front end portals using standard instant search interface libraries.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Q&amp;A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DCEBE0"/>
                </a:solidFill>
                <a:latin typeface="Segoe UI"/>
              </a:rPr>
              <a:t>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32720" cy="3566160"/>
          </a:xfrm>
          <a:prstGeom prst="roundRect">
            <a:avLst/>
          </a:prstGeom>
          <a:solidFill>
            <a:srgbClr val="F5F9F6"/>
          </a:solidFill>
          <a:ln>
            <a:solidFill>
              <a:srgbClr val="D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532D"/>
                </a:solidFill>
                <a:latin typeface="Segoe UI"/>
              </a:rPr>
              <a:t>Open the floor for questions regarding data privacy, hardware budgets, or specific Olam Agri use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8C6E55"/>
                </a:solidFill>
                <a:latin typeface="Segoe U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