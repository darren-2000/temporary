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Powering Search at Olam Agri with Meilisearch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Architecture, Performance, and Strategic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10515600" cy="4206240"/>
          </a:xfrm>
          <a:prstGeom prst="roundRect">
            <a:avLst/>
          </a:prstGeom>
          <a:solidFill>
            <a:srgbClr val="F5F8F6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92640" cy="9144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184E34"/>
                </a:solidFill>
                <a:latin typeface="Segoe UI"/>
              </a:rPr>
              <a:t>Executive Pitch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49039"/>
            <a:ext cx="9692640" cy="5943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78624E"/>
                </a:solidFill>
                <a:latin typeface="Segoe UI"/>
              </a:rPr>
              <a:t>Presenter: Ponmozhi 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What is Meilisearch?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6235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1" y="139903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52704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1399032"/>
            <a:ext cx="47091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Core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892808"/>
            <a:ext cx="53035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An open source, lightning fast search engine written in the Rust programming language.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234440"/>
            <a:ext cx="51663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19672" y="139903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52704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4888" y="1399032"/>
            <a:ext cx="42519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Primary 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892808"/>
            <a:ext cx="48463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Delivering highly relevant search results to users in under 50 milliseconds.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56235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1" y="395935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408736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TECH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959352"/>
            <a:ext cx="47091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453128"/>
            <a:ext cx="53035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Uses a Lightning Memory Mapped Database (LMDB), meaning it reads directly from RAM for instant data retrieval.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794760"/>
            <a:ext cx="51663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19672" y="395935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408736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959352"/>
            <a:ext cx="42519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Modern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53128"/>
            <a:ext cx="48463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Includes built in typo tolerance and native hybrid search (combining exact keyword matches with AI semantic search) right out of the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The Advantages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Why Choose Meilisearch?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6235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1" y="139903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52704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1399032"/>
            <a:ext cx="47091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Developer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892808"/>
            <a:ext cx="53035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Extremely simple to set up compared to heavy enterprise alternatives. You can go from zero to a working search prototype in hours.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234440"/>
            <a:ext cx="51663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19672" y="139903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52704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SPD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4888" y="1399032"/>
            <a:ext cx="42519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Blazing Speed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892808"/>
            <a:ext cx="48463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The memory mapped architecture guarantees virtually zero latency for the end 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56235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1" y="395935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408736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959352"/>
            <a:ext cx="47091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AI 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453128"/>
            <a:ext cx="53035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Native support for vector embeddings allows users to search by concept or meaning, not just exact wording.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794760"/>
            <a:ext cx="51663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19672" y="395935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408736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959352"/>
            <a:ext cx="42519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Cost Effective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53128"/>
            <a:ext cx="48463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The open source community edition provides massive value without expensive vendor lock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Tradeoffs and Blockers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What is the Catch?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6235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1" y="139903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52704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1399032"/>
            <a:ext cx="47091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RAM Hungry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892808"/>
            <a:ext cx="53035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Because it maps the index to memory, your server RAM must scale linearly with your dataset size. Large datasets equal expensive server costs.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234440"/>
            <a:ext cx="51663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19672" y="139903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52704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IDX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4888" y="1399032"/>
            <a:ext cx="42519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Heavy Indexing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892808"/>
            <a:ext cx="48463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Adding massive batches of documents consumes intense CPU and memory. If not queued properly, indexing can temporarily slow down search performance.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56235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1" y="395935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408736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ANL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959352"/>
            <a:ext cx="47091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Analytics 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453128"/>
            <a:ext cx="53035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It is built strictly for user facing search. It is not designed for complex data aggregations, log analysis, or massive data crunching (unlike Elasticsearch).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794760"/>
            <a:ext cx="516636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19672" y="395935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408736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SCL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959352"/>
            <a:ext cx="42519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Scaling Complexity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53128"/>
            <a:ext cx="4846320" cy="1728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The free open source version operates on a single node. To get horizontal scaling (sharding across multiple servers for massive datasets), you must upgrade to their paid Enterprise Edition.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Olam Agri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How It Fits Our Tech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960120"/>
          </a:xfrm>
          <a:prstGeom prst="roundRect">
            <a:avLst/>
          </a:prstGeom>
          <a:solidFill>
            <a:srgbClr val="F5F8F6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90472"/>
            <a:ext cx="1042416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84E34"/>
                </a:solidFill>
                <a:latin typeface="Segoe UI"/>
              </a:rPr>
              <a:t>Not a Primary Database: Meilisearch does not replace our master databases. It acts as a fast secondary search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468880"/>
            <a:ext cx="265176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2C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651760"/>
            <a:ext cx="475488" cy="475488"/>
          </a:xfrm>
          <a:prstGeom prst="ellipse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70632"/>
            <a:ext cx="4754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70048"/>
            <a:ext cx="178308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84E34"/>
                </a:solidFill>
                <a:latin typeface="Segoe UI"/>
              </a:rPr>
              <a:t>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2377440" cy="2697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12D38"/>
                </a:solidFill>
                <a:latin typeface="Segoe UI"/>
              </a:rPr>
              <a:t>Data Flow Step 1: Extract structured data (like supplier contracts, grain prices, or logistics schedules) from our core ERP systems.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64992" y="3840480"/>
            <a:ext cx="320040" cy="502920"/>
          </a:xfrm>
          <a:prstGeom prst="rightArrow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2152" y="2468880"/>
            <a:ext cx="265176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2C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9312" y="2651760"/>
            <a:ext cx="475488" cy="475488"/>
          </a:xfrm>
          <a:prstGeom prst="ellipse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770632"/>
            <a:ext cx="4754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2" y="2670048"/>
            <a:ext cx="178308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84E34"/>
                </a:solidFill>
                <a:latin typeface="Segoe UI"/>
              </a:rPr>
              <a:t>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3154680"/>
            <a:ext cx="2377440" cy="2697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12D38"/>
                </a:solidFill>
                <a:latin typeface="Segoe UI"/>
              </a:rPr>
              <a:t>Data Flow Step 2: Flatten and format this data into simple JSON documents.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81344" y="3840480"/>
            <a:ext cx="320040" cy="502920"/>
          </a:xfrm>
          <a:prstGeom prst="rightArrow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18504" y="2468880"/>
            <a:ext cx="265176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2C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55664" y="2651760"/>
            <a:ext cx="475488" cy="475488"/>
          </a:xfrm>
          <a:prstGeom prst="ellipse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770632"/>
            <a:ext cx="4754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4" y="2670048"/>
            <a:ext cx="178308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84E34"/>
                </a:solidFill>
                <a:latin typeface="Segoe UI"/>
              </a:rPr>
              <a:t>Sync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3154680"/>
            <a:ext cx="2377440" cy="2697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12D38"/>
                </a:solidFill>
                <a:latin typeface="Segoe UI"/>
              </a:rPr>
              <a:t>Data Flow Step 3: Push updates to the Meilisearch REST API via an automated synchronization script or middleware service.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997696" y="3840480"/>
            <a:ext cx="320040" cy="502920"/>
          </a:xfrm>
          <a:prstGeom prst="rightArrow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34856" y="2468880"/>
            <a:ext cx="265176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2C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72016" y="2651760"/>
            <a:ext cx="475488" cy="475488"/>
          </a:xfrm>
          <a:prstGeom prst="ellipse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72016" y="2770632"/>
            <a:ext cx="4754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0656" y="2670048"/>
            <a:ext cx="178308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84E34"/>
                </a:solidFill>
                <a:latin typeface="Segoe UI"/>
              </a:rPr>
              <a:t>Query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2016" y="3154680"/>
            <a:ext cx="2377440" cy="2697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12D38"/>
                </a:solidFill>
                <a:latin typeface="Segoe UI"/>
              </a:rPr>
              <a:t>Data Flow Step 4: The front end application queries Meilisearch directly for instant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System Requirements &amp; Hosting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Deployment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1097280"/>
          </a:xfrm>
          <a:prstGeom prst="roundRect">
            <a:avLst/>
          </a:prstGeom>
          <a:solidFill>
            <a:srgbClr val="F5F8F6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5943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84E34"/>
                </a:solidFill>
                <a:latin typeface="Segoe UI"/>
              </a:rPr>
              <a:t>Hardware Baseline: Requires Solid State Drives (NVMe preferred) and RAM roughly equal to the total size of our search dataset.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657600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1" y="263347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76148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633472"/>
            <a:ext cx="27432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Self Hosting (Docker)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27248"/>
            <a:ext cx="3337560" cy="29169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We can deploy the official container image within our existing Kubernetes infrastructure for total data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468880"/>
            <a:ext cx="3657600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99431" y="263347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276148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633472"/>
            <a:ext cx="27432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Self Hosting (Direct)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127248"/>
            <a:ext cx="3337560" cy="29169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Run the compiled binary directly on a Linux virtual machine (AWS, Google Cloud, Azure).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468880"/>
            <a:ext cx="3383280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94192" y="2633472"/>
            <a:ext cx="502920" cy="502920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761488"/>
            <a:ext cx="502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8" y="2633472"/>
            <a:ext cx="24688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4E34"/>
                </a:solidFill>
                <a:latin typeface="Segoe UI"/>
              </a:rPr>
              <a:t>Managed 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127248"/>
            <a:ext cx="3063240" cy="29169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Alternatively, we can use Meilisearch Cloud to offload server maintenance, security patching, and uptime monitoring to their team.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Step by Step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109728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417320"/>
            <a:ext cx="438912" cy="438912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17904"/>
            <a:ext cx="4389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17320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Provisioning: Launch a staging server and secure it behind a reverse proxy (like Nginx) with SSL.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13432"/>
            <a:ext cx="109728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496312"/>
            <a:ext cx="438912" cy="438912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96896"/>
            <a:ext cx="4389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96312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Security: Generate specific API keys restricting who can read data and who can write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92424"/>
            <a:ext cx="109728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3575304"/>
            <a:ext cx="438912" cy="438912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675887"/>
            <a:ext cx="4389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75304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Configuration: Define strictly which data fields are searchable and which are filterable to preserve RAM.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71416"/>
            <a:ext cx="109728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654296"/>
            <a:ext cx="438912" cy="438912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4389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654296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Ingestion: Build the synchronization middleware using Python or Node to push batch updates from our primary database.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50408"/>
            <a:ext cx="109728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5733288"/>
            <a:ext cx="438912" cy="438912"/>
          </a:xfrm>
          <a:prstGeom prst="ellipse">
            <a:avLst/>
          </a:prstGeom>
          <a:solidFill>
            <a:srgbClr val="2C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33872"/>
            <a:ext cx="4389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733288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2D38"/>
                </a:solidFill>
                <a:latin typeface="Segoe UI"/>
              </a:rPr>
              <a:t>UI Integration: Connect our front end portals using standard instant search interface libraries.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84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"/>
            <a:ext cx="109728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Q&amp;A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EAE2"/>
                </a:solidFill>
                <a:latin typeface="Segoe UI"/>
              </a:rPr>
              <a:t>Discussion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10332720" cy="3657600"/>
          </a:xfrm>
          <a:prstGeom prst="roundRect">
            <a:avLst/>
          </a:prstGeom>
          <a:solidFill>
            <a:srgbClr val="F5F8F6"/>
          </a:solidFill>
          <a:ln>
            <a:solidFill>
              <a:srgbClr val="CE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94560"/>
            <a:ext cx="9326880" cy="18288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4E34"/>
                </a:solidFill>
                <a:latin typeface="Segoe UI"/>
              </a:rPr>
              <a:t>Open the floor for questions regarding data privacy, hardware budgets, or specific Olam Agri use cases.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32688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78624E"/>
                </a:solidFill>
                <a:latin typeface="Segoe U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