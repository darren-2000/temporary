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000" b="1">
                <a:solidFill>
                  <a:srgbClr val="FFFFFF"/>
                </a:solidFill>
              </a:rPr>
              <a:t>Figure 1.1 — The Fuzzing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333333"/>
                </a:solidFill>
              </a:rPr>
              <a:t>The Fuzzing Process. Rectangular boxes = data artifacts; rounded boxes = processing steps. Manual fuzz driver creation (red) is the bottleneck this thesis automates.</a:t>
            </a:r>
          </a:p>
        </p:txBody>
      </p:sp>
      <p:pic>
        <p:nvPicPr>
          <p:cNvPr id="4" name="Picture 3" descr="fig1_1_fuzzing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920" y="731520"/>
            <a:ext cx="3877853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000" b="1">
                <a:solidFill>
                  <a:srgbClr val="FFFFFF"/>
                </a:solidFill>
              </a:rPr>
              <a:t>Figure 1.2 — The Automotive CI/CD/CT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333333"/>
                </a:solidFill>
              </a:rPr>
              <a:t>The Automotive CI/CD/CT Pipeline. Security Validation (highlighted) is where fuzzing integrates. The feedback loop from telemetry enables continuous improvement.</a:t>
            </a:r>
          </a:p>
        </p:txBody>
      </p:sp>
      <p:pic>
        <p:nvPicPr>
          <p:cNvPr id="4" name="Picture 3" descr="fig1_2_cicd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3151421"/>
            <a:ext cx="11917375" cy="6008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000" b="1">
                <a:solidFill>
                  <a:srgbClr val="FFFFFF"/>
                </a:solidFill>
              </a:rPr>
              <a:t>Figure 3.1 — Technical Architecture (LLM-based Fuzz Driver Generation)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333333"/>
                </a:solidFill>
              </a:rPr>
              <a:t>Three-layer architecture: Input Layer (context extraction), Generation Layer (LLM-based driver generation), Execution Layer (fuzzing). Green/yellow = new contributions.</a:t>
            </a:r>
          </a:p>
        </p:txBody>
      </p:sp>
      <p:pic>
        <p:nvPicPr>
          <p:cNvPr id="4" name="Picture 3" descr="fig3_1_tech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828" y="731520"/>
            <a:ext cx="4216037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000" b="1">
                <a:solidFill>
                  <a:srgbClr val="FFFFFF"/>
                </a:solidFill>
              </a:rPr>
              <a:t>Figure 3.2 — Enterprise Integration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333333"/>
                </a:solidFill>
              </a:rPr>
              <a:t>The self-hosted CI/CD/CT runner communicates with Azure OpenAI through a Private Link endpoint via the corporate firewall — no public internet traversal.</a:t>
            </a:r>
          </a:p>
        </p:txBody>
      </p:sp>
      <p:pic>
        <p:nvPicPr>
          <p:cNvPr id="4" name="Picture 3" descr="fig3_2_enterprise_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2833690"/>
            <a:ext cx="11917375" cy="12363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000" b="1">
                <a:solidFill>
                  <a:srgbClr val="FFFFFF"/>
                </a:solidFill>
              </a:rPr>
              <a:t>Figure 4.1 — Evaluation Environment Component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333333"/>
                </a:solidFill>
              </a:rPr>
              <a:t>Evaluation Environment. Ollama/llama.cpp serve the LLM; cifuzz spark orchestrates driver generation; CMake/Clang builds; libFuzzer executes; llvm-cov measures coverage. All inside Podman.</a:t>
            </a:r>
          </a:p>
        </p:txBody>
      </p:sp>
      <p:pic>
        <p:nvPicPr>
          <p:cNvPr id="4" name="Picture 3" descr="fig4_1_eval_enviro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169" y="731520"/>
            <a:ext cx="5891355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000" b="1">
                <a:solidFill>
                  <a:srgbClr val="FFFFFF"/>
                </a:solidFill>
              </a:rPr>
              <a:t>Figure 4.2 — CI/CD/CT Pipeline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333333"/>
                </a:solidFill>
              </a:rPr>
              <a:t>CI/CD/CT Pipeline Workflow. cifuzz spark (highlighted) invokes the LLM via Azure Private Link. JFrog Artifactory enables cumulative corpus persistence across runs.</a:t>
            </a:r>
          </a:p>
        </p:txBody>
      </p:sp>
      <p:pic>
        <p:nvPicPr>
          <p:cNvPr id="4" name="Picture 3" descr="fig4_2_cicd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065" y="731520"/>
            <a:ext cx="3983564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000" b="1">
                <a:solidFill>
                  <a:srgbClr val="FFFFFF"/>
                </a:solidFill>
              </a:rPr>
              <a:t>Figure 6.1 — Enterprise Network Architecture with Azure Private Link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333333"/>
                </a:solidFill>
              </a:rPr>
              <a:t>Enterprise Network Architecture. Traffic flows through a private connection and never traverses the public internet. Edges are labeled with data exchanged between components.</a:t>
            </a:r>
          </a:p>
        </p:txBody>
      </p:sp>
      <p:pic>
        <p:nvPicPr>
          <p:cNvPr id="4" name="Picture 3" descr="fig6_1_network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702" y="731520"/>
            <a:ext cx="4308289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